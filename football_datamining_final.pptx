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4" r:id="rId19"/>
    <p:sldId id="275" r:id="rId20"/>
    <p:sldId id="276" r:id="rId21"/>
    <p:sldId id="27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0" autoAdjust="0"/>
    <p:restoredTop sz="92615" autoAdjust="0"/>
  </p:normalViewPr>
  <p:slideViewPr>
    <p:cSldViewPr snapToGrid="0" snapToObjects="1">
      <p:cViewPr varScale="1">
        <p:scale>
          <a:sx n="132" d="100"/>
          <a:sy n="132" d="100"/>
        </p:scale>
        <p:origin x="10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Players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AB-4D11-A14F-C5BFDD2D8595}"/>
              </c:ext>
            </c:extLst>
          </c:dPt>
          <c:dPt>
            <c:idx val="1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AB-4D11-A14F-C5BFDD2D8595}"/>
              </c:ext>
            </c:extLst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AB-4D11-A14F-C5BFDD2D8595}"/>
              </c:ext>
            </c:extLst>
          </c:dPt>
          <c:dPt>
            <c:idx val="3"/>
            <c:invertIfNegative val="0"/>
            <c:bubble3D val="0"/>
            <c:spPr>
              <a:solidFill>
                <a:srgbClr val="BC80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9AB-4D11-A14F-C5BFDD2D859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Midfielder
7,058</c:v>
                </c:pt>
                <c:pt idx="1">
                  <c:v>Defender
6,273</c:v>
                </c:pt>
                <c:pt idx="2">
                  <c:v>Forward
3,147</c:v>
                </c:pt>
                <c:pt idx="3">
                  <c:v>Goalkeeper
2,061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7058</c:v>
                </c:pt>
                <c:pt idx="1">
                  <c:v>6273</c:v>
                </c:pt>
                <c:pt idx="2">
                  <c:v>3147</c:v>
                </c:pt>
                <c:pt idx="3">
                  <c:v>2061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9AB-4D11-A14F-C5BFDD2D85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DBA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DBA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FIFA 23</c:v>
                </c:pt>
                <c:pt idx="1">
                  <c:v>Transfermarkt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18539</c:v>
                </c:pt>
                <c:pt idx="1">
                  <c:v>77982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36-4D13-BB77-568882C167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00C85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FIFA 23</c:v>
                </c:pt>
                <c:pt idx="1">
                  <c:v>Transfermarkt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18539</c:v>
                </c:pt>
                <c:pt idx="1">
                  <c:v>27051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36-4D13-BB77-568882C167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DBA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DBA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ADBAC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78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market_value</c:v>
                </c:pt>
                <c:pt idx="1">
                  <c:v>fee</c:v>
                </c:pt>
                <c:pt idx="2">
                  <c:v>dealing_country</c:v>
                </c:pt>
                <c:pt idx="3">
                  <c:v>nationality</c:v>
                </c:pt>
                <c:pt idx="4">
                  <c:v>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25129</c:v>
                </c:pt>
                <c:pt idx="1">
                  <c:v>11778</c:v>
                </c:pt>
                <c:pt idx="2">
                  <c:v>3160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7E-48B4-B296-4A123ECCE0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DBA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DBA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C85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DefendingTotal</c:v>
                </c:pt>
                <c:pt idx="1">
                  <c:v>ShootingTotal</c:v>
                </c:pt>
                <c:pt idx="2">
                  <c:v>PassingTotal</c:v>
                </c:pt>
                <c:pt idx="3">
                  <c:v>DribblingTotal</c:v>
                </c:pt>
                <c:pt idx="4">
                  <c:v>PhysicalityTotal</c:v>
                </c:pt>
                <c:pt idx="5">
                  <c:v>PaceTotal</c:v>
                </c:pt>
                <c:pt idx="6">
                  <c:v>Overall</c:v>
                </c:pt>
                <c:pt idx="7">
                  <c:v>Potential</c:v>
                </c:pt>
                <c:pt idx="8">
                  <c:v>Age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0.22</c:v>
                </c:pt>
                <c:pt idx="1">
                  <c:v>0.18</c:v>
                </c:pt>
                <c:pt idx="2">
                  <c:v>0.13</c:v>
                </c:pt>
                <c:pt idx="3">
                  <c:v>0.12</c:v>
                </c:pt>
                <c:pt idx="4">
                  <c:v>0.11</c:v>
                </c:pt>
                <c:pt idx="5">
                  <c:v>0.09</c:v>
                </c:pt>
                <c:pt idx="6">
                  <c:v>7.0000000000000007E-2</c:v>
                </c:pt>
                <c:pt idx="7">
                  <c:v>0.05</c:v>
                </c:pt>
                <c:pt idx="8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DE-413F-8D4D-DEF405E60D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DBA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DBA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81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828800"/>
            <a:ext cx="5943600" cy="594360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0096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05840"/>
            <a:ext cx="4389120" cy="43891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914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0" dirty="0">
                <a:solidFill>
                  <a:srgbClr val="000000"/>
                </a:solidFill>
              </a:rPr>
              <a:t>⚽</a:t>
            </a:r>
            <a:endParaRPr lang="en-US" sz="9500" dirty="0"/>
          </a:p>
        </p:txBody>
      </p:sp>
      <p:sp>
        <p:nvSpPr>
          <p:cNvPr id="8" name="Text 6"/>
          <p:cNvSpPr/>
          <p:nvPr/>
        </p:nvSpPr>
        <p:spPr>
          <a:xfrm>
            <a:off x="365760" y="411480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Football Player Analysis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Classification Using Data Mining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50292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830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Mining  —  Islamic Azad University, Central Tehran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0574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Semester 1404–1405  |  Dr. Mehrdad Fadaei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39572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Kian Kheiri Nejad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8036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23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3080" y="2880360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161B2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288036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Transfermarkt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2880360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161B22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8036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18,539 Players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880360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161B22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88036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77,982 Transfers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3649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Chapter 1–6 Full Coverage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66674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Classification + Clustering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96849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Decision Tree · KNN · Random Forest · Logistic Regression · K-Means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all sections covered in this presentation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42062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502920" cy="6583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972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161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Motivation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4447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and what we aim to achieve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2062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97280"/>
            <a:ext cx="502920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972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161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14447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top clubs use data mining for scouting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847088"/>
            <a:ext cx="42062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847088"/>
            <a:ext cx="502920" cy="6583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84708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19110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1945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23 &amp; Transfermarkt — sources and structure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847088"/>
            <a:ext cx="42062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847088"/>
            <a:ext cx="502920" cy="658368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84708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19110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Understanding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21945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types, descriptive statistics, visualization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596896"/>
            <a:ext cx="42062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596896"/>
            <a:ext cx="502920" cy="658368"/>
          </a:xfrm>
          <a:prstGeom prst="rect">
            <a:avLst/>
          </a:prstGeom>
          <a:solidFill>
            <a:srgbClr val="FF7846"/>
          </a:solidFill>
          <a:ln w="12700">
            <a:solidFill>
              <a:srgbClr val="FF78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59689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26609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Preprocessing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29443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integration, normalization, encoding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596896"/>
            <a:ext cx="42062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596896"/>
            <a:ext cx="502920" cy="658368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59689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26609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Classification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29443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trained, compared, and analyzed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346704"/>
            <a:ext cx="42062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346704"/>
            <a:ext cx="502920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34670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68680" y="34107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Clustering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" y="36941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challenge &amp; fix, results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346704"/>
            <a:ext cx="42062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346704"/>
            <a:ext cx="502920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34670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49240" y="34107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Coverage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49240" y="36941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6 chapters map to our project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096512"/>
            <a:ext cx="42062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4096512"/>
            <a:ext cx="502920" cy="6583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09651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8680" y="41605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References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68680" y="44439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came from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4096512"/>
            <a:ext cx="42062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4096512"/>
            <a:ext cx="502920" cy="6583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09651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349240" y="41605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49240" y="44439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and achieved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Objective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trying to achieve and why it matters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80160"/>
            <a:ext cx="8686800" cy="2244090"/>
          </a:xfrm>
          <a:prstGeom prst="rect">
            <a:avLst/>
          </a:prstGeom>
          <a:solidFill>
            <a:srgbClr val="0D2818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16451"/>
            <a:ext cx="731520" cy="197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88720" y="1776088"/>
            <a:ext cx="7589520" cy="7854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971628"/>
            <a:ext cx="7589520" cy="1166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 mining system that (1) accurately predicts a football player's position from performance stats, and (2) discovers natural player groups based on playing style — using FIFA 23 and Transfermarkt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Real-World Applications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football clubs and organizations actually use data mining today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15568"/>
            <a:ext cx="283464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070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" y="1709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Scouting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98424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Madrid &amp; Man City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2128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ML models to shortlist candidates matching tactical profiles from thousands of players across 50+ leagues before watching a single game.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27832" y="1115568"/>
            <a:ext cx="283464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2070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19272" y="1709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 Prediction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198424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Transfermarkt &amp; FIFA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9272" y="22128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player market value using regression models trained on historical transfer fees, performance stats, and career trajectory data.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99632" y="2926080"/>
            <a:ext cx="283464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30175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91072" y="3520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Risk Analysis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37947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Medical Departments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91072" y="40233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players by physical profile (pace, physicality, age) to identify high-risk groups and tailor training loads to minimize injury rates.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2926080"/>
            <a:ext cx="283464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0175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7472" y="3520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Rating Classification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" y="37947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Sports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" y="40233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assign player ratings and positions using decision trees trained on real-world Opta and StatsBomb performance data.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2926080"/>
            <a:ext cx="283464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27832" y="30175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📺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319272" y="3520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Broadcast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9272" y="37947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Sports &amp; DAZN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19272" y="40233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teams by playing style (high-press, possession, counter) for real-time tactical insights during live match broadcasts.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99632" y="1115568"/>
            <a:ext cx="283464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12070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291072" y="1709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Negotiation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91072" y="198424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Agents &amp; Agencies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91072" y="22128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undervalued players and optimal transfer windows for maximum market value using predictive data mining models.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Dataset Overview  —  Chapter 1 &amp; 2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real-world datasets collected and integrated from multiple sources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15568"/>
            <a:ext cx="4114800" cy="3584448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15568"/>
            <a:ext cx="4114800" cy="4572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33856"/>
            <a:ext cx="3895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FIFA 23 — Complete Player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7007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18,539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4048" y="21396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Players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95728" y="17007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95728" y="21396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47802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4048" y="29169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95728" y="247802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395728" y="29169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3364992"/>
            <a:ext cx="3895344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4198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Used: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63931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PaceTotal · ShootingTotal · PassingTotal · DribblingTotal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DefendingTotal · PhysicalityTotal · Overall · Potential · Age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115568"/>
            <a:ext cx="4206240" cy="3584448"/>
          </a:xfrm>
          <a:prstGeom prst="rect">
            <a:avLst/>
          </a:prstGeom>
          <a:solidFill>
            <a:srgbClr val="161B22"/>
          </a:solidFill>
          <a:ln w="12700">
            <a:solidFill>
              <a:srgbClr val="0096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115568"/>
            <a:ext cx="4206240" cy="457200"/>
          </a:xfrm>
          <a:prstGeom prst="rect">
            <a:avLst/>
          </a:prstGeom>
          <a:solidFill>
            <a:srgbClr val="009624"/>
          </a:solidFill>
          <a:ln w="12700">
            <a:solidFill>
              <a:srgbClr val="0096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133856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Transfermarkt — Transfer Records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17007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77,982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73168" y="21396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Records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17007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84848" y="21396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247802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yrs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73168" y="29169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1992–2025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84848" y="247802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784848" y="29169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73168" y="3364992"/>
            <a:ext cx="3895344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419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Leagues: La Liga  ·  Premier League  ·  Bundesliga  ·  Serie 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369417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player_name · age · nationality · position · market_value · fee · is_loan · season · movement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1 — Data Understanding  (Chapter 2)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attribute types, descriptive statistics, and distributions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15568"/>
            <a:ext cx="20116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18,539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Players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115568"/>
            <a:ext cx="20116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115568"/>
            <a:ext cx="20116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Overall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91 max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115568"/>
            <a:ext cx="20116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5800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97 max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3957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Types  (Chapter 2)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2761488"/>
            <a:ext cx="91440" cy="32918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76148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— int64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40280" y="27614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Overall, PaceTotal, ShootingTotal...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87952" y="27614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218688"/>
            <a:ext cx="91440" cy="32918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21868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object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40280" y="32186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Nationality, BestPosition, Club...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87952" y="32186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675888"/>
            <a:ext cx="91440" cy="329184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67588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— float64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40280" y="36758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ValueEUR, WageEUR, ReleaseClause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87952" y="36758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133088"/>
            <a:ext cx="91440" cy="329184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13308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40280" y="41330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is_loan  (0=transfer, 1=loan)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87952" y="4133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Distribution</a:t>
            </a:r>
            <a:endParaRPr lang="en-US" sz="1200" dirty="0"/>
          </a:p>
        </p:txBody>
      </p:sp>
      <p:graphicFrame>
        <p:nvGraphicFramePr>
          <p:cNvPr id="42" name="Chart 0"/>
          <p:cNvGraphicFramePr/>
          <p:nvPr/>
        </p:nvGraphicFramePr>
        <p:xfrm>
          <a:off x="4937760" y="2743200"/>
          <a:ext cx="3931920" cy="1901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1 — Visualization Results  (Chapter 2)</a:t>
            </a:r>
            <a:endParaRPr lang="en-US" sz="2100" dirty="0"/>
          </a:p>
        </p:txBody>
      </p:sp>
      <p:pic>
        <p:nvPicPr>
          <p:cNvPr id="16" name="Chart_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54015"/>
            <a:ext cx="8595360" cy="3887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7846"/>
          </a:solidFill>
          <a:ln w="12700">
            <a:solidFill>
              <a:srgbClr val="FF78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2 — Data Preprocessing  (Chapter 3)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 to transform raw data into a clean, model-ready dataset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420624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475488" cy="11155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97280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117043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148132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25,129 missing market_values with median. Filled 11,778 missing fees with 0. Dropped rows where age or nationality was null.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20624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97280"/>
            <a:ext cx="475488" cy="11155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97280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76088" y="117043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76088" y="148132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CSV files from 4 leagues (LaLiga, Premier League, Bundesliga, Serie A) into one dataframe. Unified all column names across sources.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420624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59152"/>
            <a:ext cx="475488" cy="1115568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59152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" y="243230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2743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FIFA 23 from 90 columns → 9 key features: Pace, Shooting, Passing, Dribbling, Defending, Physicality, Overall, Potential, Age.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359152"/>
            <a:ext cx="420624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359152"/>
            <a:ext cx="475488" cy="1115568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359152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76088" y="243230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76088" y="2743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text positions (Forward, Midfielder, Defender, Goalkeeper) to numeric labels using sklearn LabelEncoder for model training.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621024"/>
            <a:ext cx="420624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21024"/>
            <a:ext cx="475488" cy="11155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621024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41248" y="369417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" y="400507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MinMaxScaler: all values scaled to [0,1]. Prevents features with larger ranges (Age 16–44) from dominating model training.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621024"/>
            <a:ext cx="420624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621024"/>
            <a:ext cx="475488" cy="11155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621024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76088" y="369417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76088" y="400507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only movement='in' records from Transfermarkt. Reduced 77,982 raw records → 27,051 meaningful transfer entries.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7846"/>
          </a:solidFill>
          <a:ln w="12700">
            <a:solidFill>
              <a:srgbClr val="FF78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2 — Before vs After  (Chapter 3)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impact of preprocessing on the dataset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1371600"/>
          <a:ext cx="41148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663440" y="10972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Fixed</a:t>
            </a:r>
            <a:endParaRPr lang="en-US" sz="12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572000" y="1371600"/>
          <a:ext cx="42976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274320" y="35661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Impact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65662"/>
              </p:ext>
            </p:extLst>
          </p:nvPr>
        </p:nvGraphicFramePr>
        <p:xfrm>
          <a:off x="2176130" y="3631479"/>
          <a:ext cx="6784989" cy="1219200"/>
        </p:xfrm>
        <a:graphic>
          <a:graphicData uri="http://schemas.openxmlformats.org/drawingml/2006/table">
            <a:tbl>
              <a:tblPr/>
              <a:tblGrid>
                <a:gridCol w="1804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32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8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Min Before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8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Max Before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8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Normalization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Age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44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C853"/>
                          </a:solidFill>
                        </a:rPr>
                        <a:t>0.0  →  1.0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Overall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47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C853"/>
                          </a:solidFill>
                        </a:rPr>
                        <a:t>0.0  →  1.0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PaceTotal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C853"/>
                          </a:solidFill>
                        </a:rPr>
                        <a:t>0.0  →  1.0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ShootingTotal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92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C853"/>
                          </a:solidFill>
                        </a:rPr>
                        <a:t>0.0  →  1.0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7846"/>
          </a:solidFill>
          <a:ln w="12700">
            <a:solidFill>
              <a:srgbClr val="FF78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2 — Visualization Results  (Chapter 3)</a:t>
            </a:r>
            <a:endParaRPr lang="en-US" sz="2100" dirty="0"/>
          </a:p>
        </p:txBody>
      </p:sp>
      <p:pic>
        <p:nvPicPr>
          <p:cNvPr id="16" name="Chart_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0160"/>
            <a:ext cx="8595360" cy="3731040"/>
          </a:xfrm>
          <a:prstGeom prst="rect">
            <a:avLst/>
          </a:prstGeom>
        </p:spPr>
      </p:pic>
      <p:pic>
        <p:nvPicPr>
          <p:cNvPr id="20" name="Chart_Phas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0160"/>
            <a:ext cx="8595360" cy="3731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7846"/>
          </a:solidFill>
          <a:ln w="12700">
            <a:solidFill>
              <a:srgbClr val="FF78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2 — Code Walkthrough  (Chapter 3)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Python code used for data preprocessing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4206240" cy="320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— Fill Missing Values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42062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81328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df_transfer['market_value'] = df_transfer['market_value']\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.fillna(df_transfer['market_value'].median())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df_transfer['fee'] = df_transfer['fee'].fillna(0)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df_transfer = df_transfer.dropna(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subset=['age', 'nationality'])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20624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Merge 4 Leagues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417320"/>
            <a:ext cx="42062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81328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all_transfers = []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league in ['laliga','premier_league',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'bundesliga','serie_a']: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file in os.listdir(f'data/{league}'):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df_temp = pd.read_csv(file)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df_temp['league'] = league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all_transfers.append(df_temp)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pd.concat(all_transfers, ignore_index=True)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4206240" cy="3200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077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27832"/>
            <a:ext cx="42062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91840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MinMaxScaler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MinMaxScaler()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['PaceTotal','ShootingTotal',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'PassingTotal','DribblingTotal',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'DefendingTotal','PhysicalityTotal',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'Overall','Potential','Age']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df_fifa[cols] = scaler.fit_transform(df_fifa[cols])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907792"/>
            <a:ext cx="4206240" cy="320040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077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— LabelEncoder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227832"/>
            <a:ext cx="42062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91840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LabelEncoder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= LabelEncoder()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df['Position_encoded'] = le.fit_transform(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df['Position'])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Forward→0  Goalkeeper→1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Midfielder→2  Defender→3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3 — Classification  (Chapter 4 &amp; 5)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player positions using supervised learning — 4 models trained and compared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8595360" cy="731520"/>
          </a:xfrm>
          <a:prstGeom prst="rect">
            <a:avLst/>
          </a:prstGeom>
          <a:solidFill>
            <a:srgbClr val="1A0A2E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52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Task: Given 9 stats (Pace, Shooting, Passing, Dribbling, Defending, Physicality, Overall, Potential, Age),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264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player position: Forward / Midfielder / Defender / Goalkeeper — supervised learning with labeled training data.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 (80% / 20%)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6876288" cy="438912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50608" y="2212848"/>
            <a:ext cx="1719072" cy="4389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12848"/>
            <a:ext cx="6876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— 14,831 records (80%)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50608" y="2212848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3,708 (20%)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761488"/>
            <a:ext cx="2011680" cy="18470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992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80.12%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4320" y="3502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7581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0050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tree on feature thresholds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68880" y="2761488"/>
            <a:ext cx="2011680" cy="18470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9992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468880" y="3502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37581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0" y="40050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K=136 nearest neighbor's vote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761488"/>
            <a:ext cx="2011680" cy="1847088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7797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29992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86.89%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663440" y="3502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37581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40050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majority vote  🏆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0" y="2761488"/>
            <a:ext cx="2011680" cy="18470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9992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81.80%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858000" y="3502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7581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9440" y="40050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hyperplane separator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884600"/>
            <a:ext cx="9052560" cy="2589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pPr algn="ctr"/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  <a:p>
            <a:pPr algn="ctr"/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3 — Code Walkthrough  (Chapter 4 &amp; 5)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used to train, evaluate, and compare all 4 classifiers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4206240" cy="292608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972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Train/Test Split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4206240" cy="19629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20584"/>
            <a:ext cx="402336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accuracy_score, classification_report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df[feature_cols]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df['Position_encoded']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random_state=42, stratify=y)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stratify=y ensures equal proportion of each class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206240" cy="292608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972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All 4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89888"/>
            <a:ext cx="4206240" cy="19629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04720"/>
            <a:ext cx="402336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 = DecisionTreeClassifier(random_state=42)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 = KNeighborsClassifier(n_neighbors=136)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 = RandomForestClassifier(n_estimators=100, random_state=42)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 = LogisticRegression(max_iter=1000, random_state=42)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= {'Decision Tree':dt, 'KNN':knn,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'Random Forest':rf, 'Logistic Reg':lr}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model in models.items():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model.fit(X_train, y_train)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 = model.predict(X_test)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  = accuracy_score(y_test, pred)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{acc*100:.2f}%")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370807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250212"/>
              </p:ext>
            </p:extLst>
          </p:nvPr>
        </p:nvGraphicFramePr>
        <p:xfrm>
          <a:off x="1590985" y="3546348"/>
          <a:ext cx="6053470" cy="1219200"/>
        </p:xfrm>
        <a:graphic>
          <a:graphicData uri="http://schemas.openxmlformats.org/drawingml/2006/table">
            <a:tbl>
              <a:tblPr/>
              <a:tblGrid>
                <a:gridCol w="2977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6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8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8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8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Decision Tree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80.12%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KNN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84.57%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</a:rPr>
                        <a:t>Random Forest 🏆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</a:rPr>
                        <a:t>86.89%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Logistic Regression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81.80%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Model — Random Forest Deep Dive  (Chapter 5)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86.89% accuracy — ensemble of 100 decision trees (Bagging method from Chapter 5)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4663440" cy="221284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Position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ECDC4"/>
                          </a:solidFill>
                        </a:rPr>
                        <a:t>Defender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0.91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0.91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0.91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1,255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</a:rPr>
                        <a:t>Forward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0.87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0.81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0.84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629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C80F0"/>
                          </a:solidFill>
                        </a:rPr>
                        <a:t>Goalkeeper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0.88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0.86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0.87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412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</a:rPr>
                        <a:t>Midfielder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0.83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0.87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0.85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1,412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</a:rPr>
                        <a:t>Overall Accuracy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</a:rPr>
                        <a:t>0.87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C853"/>
                          </a:solidFill>
                        </a:rPr>
                        <a:t>3,708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363931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3895344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91%: High DefendingTotal separates them clearly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84%: Some overlap with midfielder passing stats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Goalkeeper 87%: Unique GK stats make them distinctive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20640" y="1097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029200" y="1371600"/>
          <a:ext cx="38404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10"/>
          <p:cNvSpPr/>
          <p:nvPr/>
        </p:nvSpPr>
        <p:spPr>
          <a:xfrm>
            <a:off x="274320" y="4617720"/>
            <a:ext cx="8595360" cy="246888"/>
          </a:xfrm>
          <a:prstGeom prst="rect">
            <a:avLst/>
          </a:prstGeom>
          <a:solidFill>
            <a:srgbClr val="0D2818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462686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DefendingTotal (22%) and ShootingTotal (18%) are the strongest predictors — defenders defend, forwards shoot.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4 — Clustering Challenge &amp; Fix  (Chapter 6)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encountered, diagnosed, and resolved during K-Means clustering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4069080" cy="3639312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4069080" cy="42062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15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 — First Attempt (K=4)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591056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K-Means on ALL 18,539 players caused Goalkeepers to be incorrectly mixed into field player clusters. Their stats (low Shooting, low Pace, unique GK attributes) confused the algorithm: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2487168"/>
          <a:ext cx="3840480" cy="1078992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Cluster Label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Fwd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GK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"Goalkeepers"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1,729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1,030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</a:rPr>
                        <a:t>❌ Wrong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"Attackers"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693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951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</a:rPr>
                        <a:t>❌ Wrong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"Defenders"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2,334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DBAC7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C400"/>
                          </a:solidFill>
                        </a:rPr>
                        <a:t>⚠️ Mixed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84048" y="363931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GKs have a fundamentally different feature space. K-Means treats all features equally and cannot correctly separate them from outfield players without guidance.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1097280"/>
            <a:ext cx="4315968" cy="3639312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1097280"/>
            <a:ext cx="4315968" cy="420624"/>
          </a:xfrm>
          <a:prstGeom prst="rect">
            <a:avLst/>
          </a:prstGeom>
          <a:solidFill>
            <a:srgbClr val="009624"/>
          </a:solidFill>
          <a:ln w="12700">
            <a:solidFill>
              <a:srgbClr val="009624"/>
            </a:solidFill>
            <a:prstDash val="solid"/>
          </a:ln>
        </p:spPr>
      </p:sp>
      <p:sp>
        <p:nvSpPr>
          <p:cNvPr id="12" name="Text 13"/>
          <p:cNvSpPr/>
          <p:nvPr/>
        </p:nvSpPr>
        <p:spPr>
          <a:xfrm>
            <a:off x="4681728" y="1115568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 — Revised Approach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81727" y="1578538"/>
            <a:ext cx="4078224" cy="541693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1727" y="1578538"/>
            <a:ext cx="411480" cy="53072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81726" y="1573489"/>
            <a:ext cx="411480" cy="54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93791" y="1597214"/>
            <a:ext cx="3474720" cy="234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GKs first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93791" y="1831522"/>
            <a:ext cx="3474720" cy="276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all 2,061 Goalkeepers into a separate dataframe before running any clustering.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81727" y="2105736"/>
            <a:ext cx="4078224" cy="5622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81727" y="2131166"/>
            <a:ext cx="411480" cy="529367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81728" y="2131166"/>
            <a:ext cx="411480" cy="521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93791" y="2113818"/>
            <a:ext cx="3474720" cy="22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field players only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93791" y="2338296"/>
            <a:ext cx="3474720" cy="3006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with K=3 on 16,478 outfield players. Elbow Method confirms K=3 is optimal.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81730" y="2685993"/>
            <a:ext cx="4078223" cy="5678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81730" y="2698185"/>
            <a:ext cx="411479" cy="55567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81729" y="2685991"/>
            <a:ext cx="411480" cy="562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93794" y="2685993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Re-add GKs as Cluster 3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93794" y="2942025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Goalkeepers back as Cluster 3 — perfectly isolated, 100% accurate.</a:t>
            </a:r>
            <a:endParaRPr lang="en-US" sz="900" dirty="0"/>
          </a:p>
        </p:txBody>
      </p:sp>
      <p:graphicFrame>
        <p:nvGraphicFramePr>
          <p:cNvPr id="3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482478"/>
              </p:ext>
            </p:extLst>
          </p:nvPr>
        </p:nvGraphicFramePr>
        <p:xfrm>
          <a:off x="4681728" y="3373366"/>
          <a:ext cx="4078223" cy="1271942"/>
        </p:xfrm>
        <a:graphic>
          <a:graphicData uri="http://schemas.openxmlformats.org/drawingml/2006/table">
            <a:tbl>
              <a:tblPr/>
              <a:tblGrid>
                <a:gridCol w="679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0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49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Def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Fwd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GK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Mid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C853"/>
                          </a:solidFill>
                        </a:rPr>
                        <a:t>Defensive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4,398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17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1,045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C853"/>
                          </a:solidFill>
                        </a:rPr>
                        <a:t>✅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9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C853"/>
                          </a:solidFill>
                        </a:rPr>
                        <a:t>Attacking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57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2,437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2,873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C853"/>
                          </a:solidFill>
                        </a:rPr>
                        <a:t>✅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C853"/>
                          </a:solidFill>
                        </a:rPr>
                        <a:t>Elite All-Round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1,818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693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3,140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C853"/>
                          </a:solidFill>
                        </a:rPr>
                        <a:t>✅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4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C853"/>
                          </a:solidFill>
                        </a:rPr>
                        <a:t>GKs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2,061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DBAC7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C853"/>
                          </a:solidFill>
                        </a:rPr>
                        <a:t>✅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4 — Code Walkthrough  (Chapter 6)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for K-Means clustering with Elbow Method and GK separation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4206240" cy="2926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972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&amp; Setup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9"/>
            <a:ext cx="4206240" cy="2081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" y="1166640"/>
            <a:ext cx="4023360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Separate Goalkeepers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df_gk    = df[df['Position']=='Goalkeeper'].copy()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df_field = df[df['Position']!='Goalkeeper'].copy()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Elbow Method — find best 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inertia = []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range(2, 9):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 = KMeans(n_clusters=k, random_state=42, n_init=10)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km.fit(df_field[feature_cols])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inertia.append(km.inertia_)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Plot inertia — elbow at K=3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206240" cy="2926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972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Labeling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89888"/>
            <a:ext cx="4206240" cy="208104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56716"/>
            <a:ext cx="4023360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3: Apply K-Means with K=3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KMeans(n_clusters=3, random_state=42, n_init=10)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df_field['Cluster'] = km.fit_predict(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df_field[feature_cols])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4: Re-add Goalkeepers as Cluster 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df_gk['Cluster'] = 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df_all = pd.concat([df_field, df_gk], ignore_index=True)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5: Label clusters from mean stats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{0:'Defensive Players',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1:'Elite All-Rounders',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2:'Attacking Players',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3:'Goalkeepers'}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df_all['Cluster_Label'] = df_all['Cluster'].map(labels)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47092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Cluster Distribution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466057"/>
              </p:ext>
            </p:extLst>
          </p:nvPr>
        </p:nvGraphicFramePr>
        <p:xfrm>
          <a:off x="274320" y="3680460"/>
          <a:ext cx="8595360" cy="1143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75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Stats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Primary Composition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5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</a:rPr>
                        <a:t>Defensive Players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</a:rPr>
                        <a:t>5,460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</a:rPr>
                        <a:t>Defending:0.61  Physical:0.61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</a:rPr>
                        <a:t>4,398 Defenders (80.5%)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5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C853"/>
                          </a:solidFill>
                        </a:rPr>
                        <a:t>Elite All-Rounders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C853"/>
                          </a:solidFill>
                        </a:rPr>
                        <a:t>5,651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C853"/>
                          </a:solidFill>
                        </a:rPr>
                        <a:t>Overall:0.56  All balanced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C853"/>
                          </a:solidFill>
                        </a:rPr>
                        <a:t>3,140 Midfielders (55.6%)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5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8A6FF"/>
                          </a:solidFill>
                        </a:rPr>
                        <a:t>Attacking Players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8A6FF"/>
                          </a:solidFill>
                        </a:rPr>
                        <a:t>5,367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8A6FF"/>
                          </a:solidFill>
                        </a:rPr>
                        <a:t>Pace:0.65  Shooting:0.57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8A6FF"/>
                          </a:solidFill>
                        </a:rPr>
                        <a:t>2,873 Midfielders + 2,437 Fwds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5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C80F0"/>
                          </a:solidFill>
                        </a:rPr>
                        <a:t>Goalkeepers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C80F0"/>
                          </a:solidFill>
                        </a:rPr>
                        <a:t>2,061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C80F0"/>
                          </a:solidFill>
                        </a:rPr>
                        <a:t>Manually separated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C80F0"/>
                          </a:solidFill>
                        </a:rPr>
                        <a:t>2,061 GKs (100% isolated)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4 — Clustering Results  (Chapter 6)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natural player groups discovered — K=4 confirmed by Elbow Method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420624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73152" cy="16642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" y="1106424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118872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Players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18688" y="1170432"/>
            <a:ext cx="1170432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5,460 players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1480" y="1572768"/>
            <a:ext cx="400507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64592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 Defending:0.61  ·  Physicality:0.61  ·  Shooting:0.28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190195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Makeup: 4,398 Defenders + 1,045 Midfielders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19456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Center-backs, full-backs, defensive midfielders. High strength and stamina, low attacking output.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097280"/>
            <a:ext cx="420624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097280"/>
            <a:ext cx="73152" cy="16642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3460" y="1082359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58968" y="118872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All-Rounders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1226138"/>
            <a:ext cx="1170432" cy="19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5,651 players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846320" y="1572768"/>
            <a:ext cx="400507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64592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 Overall:0.56  ·  All attributes well-balanced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190195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Makeup: 3,140 Midfielders + 1,818 Defenders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19456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players in dataset. Top-tier central midfielders and box-to-box players with no clear weakness.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907792"/>
            <a:ext cx="420624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907792"/>
            <a:ext cx="73152" cy="16642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94466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24128" y="299923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Players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18688" y="299505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5,367 players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11480" y="3383280"/>
            <a:ext cx="400507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45643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 Pace:0.65  ·  Shooting:0.57  ·  Dribbling:0.55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371246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Makeup: 2,873 Midfielders + 2,437 Forwards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400507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Pacey wingers, attacking mids, and forwards who prioritize speed, dribbling, and scoring.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907792"/>
            <a:ext cx="420624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907792"/>
            <a:ext cx="73152" cy="1664208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871216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🥅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58968" y="299923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Goalkeepers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53528" y="304991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2,061 players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4846320" y="3383280"/>
            <a:ext cx="400507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45643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 Manually separated — unique attribute space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371246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Makeup: 2,061 Goalkeepers (100% isolated)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46320" y="400507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before clustering. GKDiving and GKHandling don't apply to outfield players.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Course Chapter Coverage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6 course chapters are reflected in this 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658368" cy="5669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9728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115214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Mining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152144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152144"/>
            <a:ext cx="5376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motivation established. KDD process followed end-to-end. Real-world use cases justified. 18,539 players exceeds the 3,000 record minimum requirement.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719072"/>
            <a:ext cx="658368" cy="5669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71907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17739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773936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773936"/>
            <a:ext cx="5376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types classified (int64/object/float/bool). Descriptive statistics computed (mean, std, min, max). Histograms and heatmaps generated.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340864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40864"/>
            <a:ext cx="658368" cy="566928"/>
          </a:xfrm>
          <a:prstGeom prst="rect">
            <a:avLst/>
          </a:prstGeom>
          <a:solidFill>
            <a:srgbClr val="FF7846"/>
          </a:solidFill>
          <a:ln w="12700">
            <a:solidFill>
              <a:srgbClr val="FF78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40864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39572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395728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395728"/>
            <a:ext cx="5376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(fillna/dropna), Integration (4 leagues merged), Reduction (90→9 features), Transformation (MinMaxScaler normalization, LabelEncoder, filtering).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962656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962656"/>
            <a:ext cx="658368" cy="566928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962656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30175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Basic Methods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3017520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017520"/>
            <a:ext cx="5376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and KNN implemented. Train/test split (80/20, stratified). Confusion matrix, accuracy, precision, recall, F1-score evaluated.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584448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584448"/>
            <a:ext cx="658368" cy="56692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58444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4128" y="363931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Classification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46120" y="3639312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3639312"/>
            <a:ext cx="5376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(Ensemble Learning/Bagging, 100 trees) achieved best accuracy 86.89%. Logistic Regression trained. Feature importance extracted.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206240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206240"/>
            <a:ext cx="658368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20624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24128" y="426110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46120" y="4261104"/>
            <a:ext cx="18288" cy="4206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4992" y="4261104"/>
            <a:ext cx="5376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with Elbow Method. GK mixing problem diagnosed and resolved by separating Goalkeepers. 4 natural clusters discovered and labeled.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Sources &amp; References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datasets and resources were obtained from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73152" cy="8229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972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⚽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845552" y="1188720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45552" y="118872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8992" y="1161288"/>
            <a:ext cx="6656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23 — Complete Player Dataset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1408176"/>
            <a:ext cx="6656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github.com/LilianaC/Pandas — Fifa 23 Fut Players.csv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78992" y="1600200"/>
            <a:ext cx="6656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stats for 18,539 players with 90 attributes: pace, shooting, passing, dribbling, defending, physicality, overall, potential, value, wages and more. Used as primary dataset for classification and clustering.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011680"/>
            <a:ext cx="8595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011680"/>
            <a:ext cx="73152" cy="8229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116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845552" y="2103120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45552" y="210312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8992" y="2075688"/>
            <a:ext cx="6656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Transfermarkt — Transfer Records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2322576"/>
            <a:ext cx="6656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github.com/dcaribou/transfermarkt-datasets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8992" y="2514600"/>
            <a:ext cx="6656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77,982 transfer records across 4 European leagues (La Liga, Premier League, Bundesliga, Serie A) from 1992–2025. Includes player name, age, nationality, position, market value, transfer fee, and loan status.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8595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926080"/>
            <a:ext cx="73152" cy="822960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9260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845552" y="3017520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45552" y="301752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Reference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" y="2990088"/>
            <a:ext cx="6656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Textbook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8992" y="3236976"/>
            <a:ext cx="6656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Mining: Concepts and Techniques — Han, Kamber, Pei  |  Translated by Dr. Mehdi Esmaili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8992" y="3429000"/>
            <a:ext cx="6656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theoretical foundation for all preprocessing, classification, and clustering methods applied in this project. Chapters 1–6 directly map to project phases.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840480"/>
            <a:ext cx="85953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840480"/>
            <a:ext cx="73152" cy="822960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8404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845552" y="3931920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45552" y="393192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8992" y="3904488"/>
            <a:ext cx="6656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78992" y="4151376"/>
            <a:ext cx="6656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  ·  pandas  ·  numpy  ·  scikit-learn  ·  matplotlib  </a:t>
            </a:r>
            <a:r>
              <a:rPr lang="en-US" sz="850" i="1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seaborn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78992" y="4343400"/>
            <a:ext cx="6656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processing, model training, evaluation, and visualization was implemented in Python using industry-standard data science libraries on a local development environment.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 — What We Achieved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results, and lessons learned from this data mining 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420624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73152" cy="11430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97280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992" y="1188720"/>
            <a:ext cx="3310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Classifier: Random Forest — 86.89%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8992" y="1517904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 (Chapter 5 Bagging) outperformed all others. Achieved 91% F1 for Defenders and 87% weighted F1 overall. Ensemble learning reduces variance vs single Decision Tree.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20624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97280"/>
            <a:ext cx="73152" cy="1143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97280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13832" y="1188720"/>
            <a:ext cx="3310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Predictors: DefendingTotal &amp; ShootingTotal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13832" y="1517904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showed DefendingTotal (22%) and ShootingTotal (18%) are strongest predictors. Players are fundamentally defined by their role — defend or score — which makes intuitive sense.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420624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59152"/>
            <a:ext cx="73152" cy="1143000"/>
          </a:xfrm>
          <a:prstGeom prst="rect">
            <a:avLst/>
          </a:prstGeom>
          <a:solidFill>
            <a:srgbClr val="BC80F0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59152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78992" y="2450592"/>
            <a:ext cx="3310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Natural Player Groups Discovered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8992" y="2779776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revealed: Defensive Players (5,460) · Elite All-Rounders (5,651) · Attacking Players (5,367) · Goalkeepers (2,061). These align perfectly with real tactical roles in modern football.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709160" y="2359152"/>
            <a:ext cx="420624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8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359152"/>
            <a:ext cx="73152" cy="1143000"/>
          </a:xfrm>
          <a:prstGeom prst="rect">
            <a:avLst/>
          </a:prstGeom>
          <a:solidFill>
            <a:srgbClr val="FF7846"/>
          </a:solidFill>
          <a:ln w="12700">
            <a:solidFill>
              <a:srgbClr val="FF78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59152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13832" y="2450592"/>
            <a:ext cx="3310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7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Problem-Solving: GK Clustering Challenge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13832" y="2779776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 mixing issue forced critical thinking. Separating Goalkeepers before clustering was a key methodological fix that improved all cluster purity significantly — a real data mining debugging experience.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74320" y="3621024"/>
            <a:ext cx="420624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21024"/>
            <a:ext cx="73152" cy="11430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621024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78992" y="3712464"/>
            <a:ext cx="3310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Chapter Coverage Achieved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78992" y="4041648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course chapters applied: collection (Ch.1), understanding (Ch.2), preprocessing (Ch.3), basic classification (Ch.4), advanced classification (Ch.5), and clustering (Ch.6) — complete end-to-end KDD pipeline.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709160" y="3621024"/>
            <a:ext cx="420624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621024"/>
            <a:ext cx="73152" cy="1143000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621024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513832" y="3712464"/>
            <a:ext cx="3310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513832" y="4041648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match stats (goals, assists, xG) · Apply Deep Learning for higher accuracy · Extend to market value prediction · Build a real-time player scouting recommendation system for football clubs.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0096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548640"/>
            <a:ext cx="4572000" cy="457200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Kian Kheiri Nejad  |  IAU Central Tehran  |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000000"/>
                </a:solidFill>
              </a:rPr>
              <a:t>⚽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C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watching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0292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591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61518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Kian Kheiri Nejad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5760" y="31455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Azad University — Central Tehran Branch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4198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Mining  |  Dr. Mehrdad Fadaei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6941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Semester 1404–1405  | 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79392"/>
            <a:ext cx="1298448" cy="32004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27939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Ch.1–6 Coverage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4279392"/>
            <a:ext cx="1298448" cy="32004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427939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86.89% Accuracy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4279392"/>
            <a:ext cx="1298448" cy="32004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BC8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427939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Clusters Found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4279392"/>
            <a:ext cx="1298448" cy="32004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27939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18,539 Players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3508</Words>
  <Application>Microsoft Office PowerPoint</Application>
  <PresentationFormat>On-screen Show (16:9)</PresentationFormat>
  <Paragraphs>567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Kian K</cp:lastModifiedBy>
  <cp:revision>16</cp:revision>
  <dcterms:created xsi:type="dcterms:W3CDTF">2026-05-10T21:33:33Z</dcterms:created>
  <dcterms:modified xsi:type="dcterms:W3CDTF">2026-05-26T15:54:46Z</dcterms:modified>
</cp:coreProperties>
</file>